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58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036D-ED3C-B29C-F29E-E46330715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14DF7-D718-7335-FCCA-1B24DA707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D3A90-E7B5-93AA-1756-53268B53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EFC43-48DF-C98D-5522-C80A868F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2CE12-0F53-617F-13B1-CEB4DEDD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6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BA43-6A63-4EAA-9569-1CA868D3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F4D8-5791-D3E2-BBC6-BC937CE2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959E8-A87F-0E4F-766B-971DC231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E56C9-9FBC-2FA2-20E2-D00C1B99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40348-C4E3-2DC2-621D-A7845195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1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C486-3677-8D3E-65D9-10CD089F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98913-9060-BE4D-799D-441B1B49B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CE11-91F1-A59B-D84C-23DE8871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7A1BF-05FB-0AA0-7B27-2F996348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9EFFE-03B6-EDF0-95BC-E56AFB0A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5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55FD-9D8C-9041-AA4A-332261A1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CE99-4CD9-609D-9833-EDBAAC832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CA517-F9C7-348B-C902-C4DCCC565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83145-6B86-D068-72BA-E0B7A52D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E10C-7110-E475-7982-1F39E1CEA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9ABD4-5AFF-2039-1047-C236DD74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3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FDFA-43CA-FFAB-17BA-4E68B34A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17F3C-E77B-AC02-74F6-0E50C7AD6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D505F-DC2B-DB69-15E8-E91934B4C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8B883-40E7-E033-5086-09F5FED53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A6517-E287-7D0B-0281-0C4D73E50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C7A97-57B0-DD46-89FB-99D1DA93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9583E-83C6-9CDE-E8D0-25807619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0920E-1F33-38B5-0719-63B9FA62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1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BD41-2C9F-381D-7D0A-C39F9221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DF45A-807A-36C8-8BFF-6C8810F0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85B9B-0D0B-6B3B-2012-EED23BC6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D22A6-6080-E67D-1855-F828529C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4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F2EDC-2D78-46E4-FA40-FF5AA3A4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3C6E0-F0AB-34FB-6E1B-718887E2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5F00C-0AF1-D895-CED6-7EDCB39C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E5F3-77A9-C73B-22E2-72470F67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3017D-DF79-B4FC-F258-8390C849A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051B8-DA16-ECAE-E582-77FFF23E7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77A83-D6B6-5FB0-F9FD-3FB0926D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BB496-B91C-34D0-6D82-8E32BDE6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16E3B-0845-AC66-E289-8A717E8F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2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3546-5010-5A94-89AC-E7A80A29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A6905-508B-C660-DF6F-015E566A75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42B1E-BBC0-364D-3324-8ABBC6EAF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CB785-00E5-F0B3-9354-F81CAD6EB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2D0A7-DE99-FD63-2D16-B772BF45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0B7E7-FA6D-8907-698A-494CA455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0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A54A-A511-450B-C1E4-2FF63E2E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A1FA0-96B0-3142-6C01-7230AB33C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A9111-9134-CC67-A648-9FB5649B1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58A3-E7C1-9C70-2237-F7DCAAC0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DA764-5A6D-1ECB-B6BC-25E9824D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8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A7785-3BBD-24B1-FD30-64C1ED6C21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28492-537E-DF8D-55BD-459E01B2A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7DEB9-3990-CB36-5861-38E924D0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BAF2-E954-F53F-80F4-F41F2E28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681B2-74CA-1F7D-25C1-23DDD671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BD547-4EE8-9512-395E-F06D6B91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3D773-9E9E-769B-86E8-2150A32E8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DBBEE-100B-C79C-0209-F4A28B626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5C911-9171-42DC-80F4-F44F85E9217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7CBDB-C3EC-45CE-36E9-C3A406ACE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984BD-277A-4031-9995-EDE79155E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202A5-9262-4132-918F-157F5C4592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B9A9E4-1B0E-B5DD-D603-0EF519CE35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218584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ddit.com/r/Damnthatsinteresting/comments/9d5nvl/mechanical_binary_counter/#lightbox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www.youtube.com/watch?v=UOhFri6FPrs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02C67D-5C10-EF07-7827-C6D92275A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340" y="478154"/>
            <a:ext cx="2608462" cy="282812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ose Up of Vehicle Odometer">
            <a:extLst>
              <a:ext uri="{FF2B5EF4-FFF2-40B4-BE49-F238E27FC236}">
                <a16:creationId xmlns:a16="http://schemas.microsoft.com/office/drawing/2014/main" id="{07DF7641-CA11-4C14-236C-2E207F44C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991" y="478155"/>
            <a:ext cx="4472593" cy="251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C591E-7431-CAE3-B166-6BEEFF57C344}"/>
              </a:ext>
            </a:extLst>
          </p:cNvPr>
          <p:cNvSpPr txBox="1"/>
          <p:nvPr/>
        </p:nvSpPr>
        <p:spPr>
          <a:xfrm>
            <a:off x="8486188" y="3349219"/>
            <a:ext cx="365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video of mechanical decimal counter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A71822-EBCB-0B32-7CF1-B7A74CD4E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9215" y="478153"/>
            <a:ext cx="2346477" cy="2828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90BA57-656E-B9FF-5396-7B35837824A9}"/>
              </a:ext>
            </a:extLst>
          </p:cNvPr>
          <p:cNvSpPr txBox="1"/>
          <p:nvPr/>
        </p:nvSpPr>
        <p:spPr>
          <a:xfrm>
            <a:off x="8581315" y="5907541"/>
            <a:ext cx="3466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video of mechanical binary counter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473D68-427F-4799-5EE8-91AFBFC6F7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727" b="36468"/>
          <a:stretch/>
        </p:blipFill>
        <p:spPr>
          <a:xfrm>
            <a:off x="7249213" y="3915707"/>
            <a:ext cx="4728501" cy="19918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00104B-CE60-8D5B-E93E-DFB1441FCF60}"/>
              </a:ext>
            </a:extLst>
          </p:cNvPr>
          <p:cNvSpPr txBox="1"/>
          <p:nvPr/>
        </p:nvSpPr>
        <p:spPr>
          <a:xfrm>
            <a:off x="214285" y="3807974"/>
            <a:ext cx="642970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counting with </a:t>
            </a:r>
          </a:p>
          <a:p>
            <a:r>
              <a:rPr lang="en-US" sz="1100" b="1" dirty="0"/>
              <a:t>2</a:t>
            </a:r>
            <a:r>
              <a:rPr lang="en-US" sz="1100" dirty="0"/>
              <a:t> symbols</a:t>
            </a:r>
          </a:p>
          <a:p>
            <a:endParaRPr lang="en-US" sz="1100" dirty="0"/>
          </a:p>
          <a:p>
            <a:r>
              <a:rPr lang="en-US" sz="1100" dirty="0"/>
              <a:t>also known as </a:t>
            </a:r>
          </a:p>
          <a:p>
            <a:r>
              <a:rPr lang="en-US" sz="1100" dirty="0"/>
              <a:t>“</a:t>
            </a:r>
            <a:r>
              <a:rPr lang="en-US" sz="1100" b="1" u="sng" dirty="0"/>
              <a:t>bi</a:t>
            </a:r>
            <a:r>
              <a:rPr lang="en-US" sz="1100" dirty="0"/>
              <a:t>nary” counting</a:t>
            </a:r>
          </a:p>
          <a:p>
            <a:endParaRPr lang="en-US" sz="1100" dirty="0"/>
          </a:p>
          <a:p>
            <a:r>
              <a:rPr lang="en-US" sz="1100" b="1" u="sng" dirty="0"/>
              <a:t>bi</a:t>
            </a:r>
            <a:r>
              <a:rPr lang="en-US" sz="1100" dirty="0"/>
              <a:t>cycle</a:t>
            </a:r>
          </a:p>
          <a:p>
            <a:r>
              <a:rPr lang="en-US" sz="1100" b="1" u="sng" dirty="0"/>
              <a:t>bi</a:t>
            </a:r>
            <a:r>
              <a:rPr lang="en-US" sz="1100" dirty="0"/>
              <a:t>ped</a:t>
            </a:r>
          </a:p>
          <a:p>
            <a:r>
              <a:rPr lang="en-US" sz="1100" b="1" dirty="0"/>
              <a:t>bi</a:t>
            </a:r>
          </a:p>
          <a:p>
            <a:endParaRPr lang="en-US" sz="1100" b="1" dirty="0"/>
          </a:p>
          <a:p>
            <a:r>
              <a:rPr lang="en-US" sz="1100" dirty="0"/>
              <a:t>why 2 ? computers have various ways of representing individual values, each with only 2 possible states</a:t>
            </a:r>
          </a:p>
          <a:p>
            <a:r>
              <a:rPr lang="en-US" sz="1100" dirty="0"/>
              <a:t>voltage on wire                  high voltage / low voltage</a:t>
            </a:r>
          </a:p>
          <a:p>
            <a:r>
              <a:rPr lang="en-US" sz="1100" dirty="0"/>
              <a:t>electronic switch                                on / off    </a:t>
            </a:r>
          </a:p>
          <a:p>
            <a:r>
              <a:rPr lang="en-US" sz="1100" dirty="0"/>
              <a:t>CD surface state                              hole / no hole</a:t>
            </a:r>
          </a:p>
          <a:p>
            <a:r>
              <a:rPr lang="en-US" sz="1100" dirty="0"/>
              <a:t>piece of magnetic tape     magnetized / not magnetized</a:t>
            </a:r>
          </a:p>
          <a:p>
            <a:r>
              <a:rPr lang="en-US" sz="1100" dirty="0" err="1"/>
              <a:t>boolean</a:t>
            </a:r>
            <a:r>
              <a:rPr lang="en-US" sz="1100" dirty="0"/>
              <a:t> value                                 true  / false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5B7A21-B5A4-3C51-E545-6A16C34F78F6}"/>
              </a:ext>
            </a:extLst>
          </p:cNvPr>
          <p:cNvSpPr txBox="1"/>
          <p:nvPr/>
        </p:nvSpPr>
        <p:spPr>
          <a:xfrm>
            <a:off x="-1637638" y="-936354"/>
            <a:ext cx="255850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counting with </a:t>
            </a:r>
          </a:p>
          <a:p>
            <a:r>
              <a:rPr lang="en-US" sz="1100" b="1" dirty="0"/>
              <a:t>10</a:t>
            </a:r>
            <a:r>
              <a:rPr lang="en-US" sz="1100" dirty="0"/>
              <a:t> symbols</a:t>
            </a:r>
          </a:p>
          <a:p>
            <a:endParaRPr lang="en-US" sz="1100" dirty="0"/>
          </a:p>
          <a:p>
            <a:r>
              <a:rPr lang="en-US" sz="1100" dirty="0"/>
              <a:t>also known as </a:t>
            </a:r>
          </a:p>
          <a:p>
            <a:r>
              <a:rPr lang="en-US" sz="1100" dirty="0"/>
              <a:t>“decimal” counting</a:t>
            </a:r>
          </a:p>
          <a:p>
            <a:endParaRPr lang="en-US" sz="1100" dirty="0"/>
          </a:p>
          <a:p>
            <a:r>
              <a:rPr lang="en-US" sz="1100" b="1" dirty="0"/>
              <a:t>dec</a:t>
            </a:r>
            <a:r>
              <a:rPr lang="en-US" sz="1100" dirty="0"/>
              <a:t>ade</a:t>
            </a:r>
          </a:p>
          <a:p>
            <a:r>
              <a:rPr lang="en-US" sz="1100" b="1" dirty="0"/>
              <a:t>dec</a:t>
            </a:r>
            <a:r>
              <a:rPr lang="en-US" sz="1100" dirty="0"/>
              <a:t>athlon</a:t>
            </a:r>
          </a:p>
          <a:p>
            <a:r>
              <a:rPr lang="en-US" sz="1100" b="1" dirty="0"/>
              <a:t>dec</a:t>
            </a:r>
            <a:r>
              <a:rPr lang="en-US" sz="1100" dirty="0"/>
              <a:t>ahedron</a:t>
            </a:r>
          </a:p>
          <a:p>
            <a:r>
              <a:rPr lang="en-US" sz="1100" dirty="0" err="1"/>
              <a:t>deca</a:t>
            </a:r>
            <a:r>
              <a:rPr lang="en-US" sz="1100" dirty="0"/>
              <a:t> (</a:t>
            </a:r>
            <a:r>
              <a:rPr lang="en-US" sz="1100" dirty="0" err="1"/>
              <a:t>greek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dieci</a:t>
            </a:r>
            <a:r>
              <a:rPr lang="en-US" sz="1100" dirty="0"/>
              <a:t> (</a:t>
            </a:r>
            <a:r>
              <a:rPr lang="en-US" sz="1100" dirty="0" err="1"/>
              <a:t>italian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diez</a:t>
            </a:r>
            <a:r>
              <a:rPr lang="en-US" sz="1100" dirty="0"/>
              <a:t> (</a:t>
            </a:r>
            <a:r>
              <a:rPr lang="en-US" sz="1100" dirty="0" err="1"/>
              <a:t>spanish</a:t>
            </a:r>
            <a:r>
              <a:rPr lang="en-US" sz="1100" dirty="0"/>
              <a:t>)</a:t>
            </a:r>
          </a:p>
          <a:p>
            <a:r>
              <a:rPr lang="en-US" sz="1100" dirty="0"/>
              <a:t>dix (</a:t>
            </a:r>
            <a:r>
              <a:rPr lang="en-US" sz="1100" dirty="0" err="1"/>
              <a:t>french</a:t>
            </a:r>
            <a:r>
              <a:rPr lang="en-US" sz="1100" dirty="0"/>
              <a:t>)</a:t>
            </a:r>
          </a:p>
          <a:p>
            <a:r>
              <a:rPr lang="en-US" sz="1100" b="1" dirty="0" err="1"/>
              <a:t>dec</a:t>
            </a:r>
            <a:r>
              <a:rPr lang="en-US" sz="1100" dirty="0" err="1"/>
              <a:t>ember</a:t>
            </a:r>
            <a:r>
              <a:rPr lang="en-US" sz="1100" dirty="0"/>
              <a:t> (12 ? or 10 !! 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4AB9B1-2CBA-4509-D956-8916E1258A14}"/>
              </a:ext>
            </a:extLst>
          </p:cNvPr>
          <p:cNvCxnSpPr/>
          <p:nvPr/>
        </p:nvCxnSpPr>
        <p:spPr>
          <a:xfrm>
            <a:off x="296333" y="3781647"/>
            <a:ext cx="116475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2EAB24-3111-11B9-E3FD-D20672AF5095}"/>
              </a:ext>
            </a:extLst>
          </p:cNvPr>
          <p:cNvSpPr txBox="1"/>
          <p:nvPr/>
        </p:nvSpPr>
        <p:spPr>
          <a:xfrm>
            <a:off x="214286" y="439241"/>
            <a:ext cx="36570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counting with </a:t>
            </a:r>
          </a:p>
          <a:p>
            <a:r>
              <a:rPr lang="en-US" sz="1100" b="1" dirty="0"/>
              <a:t>10</a:t>
            </a:r>
            <a:r>
              <a:rPr lang="en-US" sz="1100" dirty="0"/>
              <a:t> symbols / characters / digits</a:t>
            </a:r>
          </a:p>
          <a:p>
            <a:endParaRPr lang="en-US" sz="1100" dirty="0"/>
          </a:p>
          <a:p>
            <a:r>
              <a:rPr lang="en-US" sz="1100" dirty="0"/>
              <a:t>also known as </a:t>
            </a:r>
          </a:p>
          <a:p>
            <a:r>
              <a:rPr lang="en-US" sz="1100" dirty="0"/>
              <a:t>“</a:t>
            </a:r>
            <a:r>
              <a:rPr lang="en-US" sz="1100" b="1" u="sng" dirty="0"/>
              <a:t>dec</a:t>
            </a:r>
            <a:r>
              <a:rPr lang="en-US" sz="1100" dirty="0"/>
              <a:t>imal” counting</a:t>
            </a:r>
          </a:p>
          <a:p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C89C2-C6B5-F8D2-2195-4FD663E33BDA}"/>
              </a:ext>
            </a:extLst>
          </p:cNvPr>
          <p:cNvSpPr txBox="1"/>
          <p:nvPr/>
        </p:nvSpPr>
        <p:spPr>
          <a:xfrm>
            <a:off x="232905" y="1502596"/>
            <a:ext cx="36570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u="sng" dirty="0"/>
              <a:t>dec</a:t>
            </a:r>
            <a:r>
              <a:rPr lang="en-US" sz="1100" dirty="0"/>
              <a:t>ade</a:t>
            </a:r>
          </a:p>
          <a:p>
            <a:r>
              <a:rPr lang="en-US" sz="1100" b="1" u="sng" dirty="0"/>
              <a:t>dec</a:t>
            </a:r>
            <a:r>
              <a:rPr lang="en-US" sz="1100" dirty="0"/>
              <a:t>agon</a:t>
            </a:r>
          </a:p>
          <a:p>
            <a:r>
              <a:rPr lang="en-US" sz="1100" b="1" u="sng" dirty="0"/>
              <a:t>dec</a:t>
            </a:r>
            <a:r>
              <a:rPr lang="en-US" sz="1100" dirty="0"/>
              <a:t>em (</a:t>
            </a:r>
            <a:r>
              <a:rPr lang="en-US" sz="1100" dirty="0" err="1"/>
              <a:t>latin</a:t>
            </a:r>
            <a:r>
              <a:rPr lang="en-US" sz="1100" dirty="0"/>
              <a:t>)</a:t>
            </a:r>
          </a:p>
          <a:p>
            <a:r>
              <a:rPr lang="en-US" sz="1100" b="1" u="sng" dirty="0" err="1"/>
              <a:t>dec</a:t>
            </a:r>
            <a:r>
              <a:rPr lang="en-US" sz="1100" dirty="0" err="1"/>
              <a:t>a</a:t>
            </a:r>
            <a:r>
              <a:rPr lang="en-US" sz="1100" dirty="0"/>
              <a:t> (</a:t>
            </a:r>
            <a:r>
              <a:rPr lang="en-US" sz="1100" dirty="0" err="1"/>
              <a:t>greek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dieci</a:t>
            </a:r>
            <a:r>
              <a:rPr lang="en-US" sz="1100" dirty="0"/>
              <a:t> (</a:t>
            </a:r>
            <a:r>
              <a:rPr lang="en-US" sz="1100" dirty="0" err="1"/>
              <a:t>italian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diez</a:t>
            </a:r>
            <a:r>
              <a:rPr lang="en-US" sz="1100" dirty="0"/>
              <a:t> (</a:t>
            </a:r>
            <a:r>
              <a:rPr lang="en-US" sz="1100" dirty="0" err="1"/>
              <a:t>spanish</a:t>
            </a:r>
            <a:r>
              <a:rPr lang="en-US" sz="1100" dirty="0"/>
              <a:t>)</a:t>
            </a:r>
          </a:p>
          <a:p>
            <a:r>
              <a:rPr lang="en-US" sz="1100" dirty="0"/>
              <a:t>dix (</a:t>
            </a:r>
            <a:r>
              <a:rPr lang="en-US" sz="1100" dirty="0" err="1"/>
              <a:t>french</a:t>
            </a:r>
            <a:r>
              <a:rPr lang="en-US" sz="1100" dirty="0"/>
              <a:t>)</a:t>
            </a:r>
          </a:p>
          <a:p>
            <a:r>
              <a:rPr lang="en-US" sz="1100" b="1" u="sng" dirty="0" err="1"/>
              <a:t>dec</a:t>
            </a:r>
            <a:r>
              <a:rPr lang="en-US" sz="1100" dirty="0" err="1"/>
              <a:t>ember</a:t>
            </a:r>
            <a:r>
              <a:rPr lang="en-US" sz="1100" dirty="0"/>
              <a:t> (is it 12 ? or 10 ?!)</a:t>
            </a:r>
          </a:p>
          <a:p>
            <a:endParaRPr lang="en-US" sz="1100" dirty="0"/>
          </a:p>
          <a:p>
            <a:r>
              <a:rPr lang="en-US" sz="1100" dirty="0"/>
              <a:t>why 10 ? people like counting with 10 symbols / digits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1199-108F-E09F-0EA7-E15E6FE20044}"/>
              </a:ext>
            </a:extLst>
          </p:cNvPr>
          <p:cNvSpPr txBox="1"/>
          <p:nvPr/>
        </p:nvSpPr>
        <p:spPr>
          <a:xfrm>
            <a:off x="232905" y="3209101"/>
            <a:ext cx="3657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because we have 10 fingers (10 digits)</a:t>
            </a:r>
          </a:p>
        </p:txBody>
      </p:sp>
    </p:spTree>
    <p:extLst>
      <p:ext uri="{BB962C8B-B14F-4D97-AF65-F5344CB8AC3E}">
        <p14:creationId xmlns:p14="http://schemas.microsoft.com/office/powerpoint/2010/main" val="368639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1132EA-C323-20A1-D436-CC862060E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5" y="353650"/>
            <a:ext cx="1615580" cy="6439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C69373-0FBE-D319-0F13-3F0F98C3D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169" y="373902"/>
            <a:ext cx="2933954" cy="6447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EC0BD6-83FF-067F-6279-A98EAF017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18" y="400175"/>
            <a:ext cx="1501270" cy="6408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3811D2-B3D9-8270-DAD7-456A43D71E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442"/>
          <a:stretch/>
        </p:blipFill>
        <p:spPr>
          <a:xfrm>
            <a:off x="600694" y="226501"/>
            <a:ext cx="1081391" cy="2057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5C819B-1DDC-CCE4-D640-C015B67B28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683" t="2969" r="33665" b="-1"/>
          <a:stretch/>
        </p:blipFill>
        <p:spPr>
          <a:xfrm>
            <a:off x="2232316" y="224590"/>
            <a:ext cx="2197770" cy="199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688181-EF74-6822-A3DE-A69CC2E824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283" t="-24319"/>
          <a:stretch/>
        </p:blipFill>
        <p:spPr>
          <a:xfrm>
            <a:off x="5113795" y="160423"/>
            <a:ext cx="1091745" cy="255794"/>
          </a:xfrm>
          <a:prstGeom prst="rect">
            <a:avLst/>
          </a:prstGeom>
        </p:spPr>
      </p:pic>
      <p:pic>
        <p:nvPicPr>
          <p:cNvPr id="14" name="Picture 13" descr="Beacon croft lichfield Archives ...">
            <a:extLst>
              <a:ext uri="{FF2B5EF4-FFF2-40B4-BE49-F238E27FC236}">
                <a16:creationId xmlns:a16="http://schemas.microsoft.com/office/drawing/2014/main" id="{CC39E207-0E7B-471F-A764-1C4823235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3" r="5154"/>
          <a:stretch/>
        </p:blipFill>
        <p:spPr bwMode="auto">
          <a:xfrm>
            <a:off x="6861649" y="541220"/>
            <a:ext cx="2377440" cy="154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The Ironbridge Gorge Museums">
            <a:extLst>
              <a:ext uri="{FF2B5EF4-FFF2-40B4-BE49-F238E27FC236}">
                <a16:creationId xmlns:a16="http://schemas.microsoft.com/office/drawing/2014/main" id="{836FB84C-FA83-433E-9442-089789222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715" y="4543324"/>
            <a:ext cx="2506980" cy="182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F0C029-0B2D-41F8-A28C-62C21AA947EA}"/>
              </a:ext>
            </a:extLst>
          </p:cNvPr>
          <p:cNvCxnSpPr>
            <a:cxnSpLocks/>
          </p:cNvCxnSpPr>
          <p:nvPr/>
        </p:nvCxnSpPr>
        <p:spPr>
          <a:xfrm flipH="1">
            <a:off x="600694" y="686000"/>
            <a:ext cx="55506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CCD3E6-F676-45B1-8E40-9DCCF2919978}"/>
              </a:ext>
            </a:extLst>
          </p:cNvPr>
          <p:cNvCxnSpPr>
            <a:cxnSpLocks/>
          </p:cNvCxnSpPr>
          <p:nvPr/>
        </p:nvCxnSpPr>
        <p:spPr>
          <a:xfrm flipH="1">
            <a:off x="506896" y="6332420"/>
            <a:ext cx="55987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D5D205-304A-49B1-AA3F-DFD1F15ADD90}"/>
              </a:ext>
            </a:extLst>
          </p:cNvPr>
          <p:cNvCxnSpPr/>
          <p:nvPr/>
        </p:nvCxnSpPr>
        <p:spPr>
          <a:xfrm flipV="1">
            <a:off x="6480650" y="823160"/>
            <a:ext cx="15240" cy="5372100"/>
          </a:xfrm>
          <a:prstGeom prst="line">
            <a:avLst/>
          </a:prstGeom>
          <a:ln>
            <a:solidFill>
              <a:schemeClr val="accent2"/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Bike Logo Images – Browse 214,448 Stock ...">
            <a:extLst>
              <a:ext uri="{FF2B5EF4-FFF2-40B4-BE49-F238E27FC236}">
                <a16:creationId xmlns:a16="http://schemas.microsoft.com/office/drawing/2014/main" id="{DB82DBAC-0154-411D-BCFE-C4977D14B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891" y="991888"/>
            <a:ext cx="731520" cy="50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32">
            <a:extLst>
              <a:ext uri="{FF2B5EF4-FFF2-40B4-BE49-F238E27FC236}">
                <a16:creationId xmlns:a16="http://schemas.microsoft.com/office/drawing/2014/main" id="{EA94C934-485B-4031-BD25-DB9F0B9D216C}"/>
              </a:ext>
            </a:extLst>
          </p:cNvPr>
          <p:cNvSpPr txBox="1"/>
          <p:nvPr/>
        </p:nvSpPr>
        <p:spPr>
          <a:xfrm>
            <a:off x="6252610" y="541220"/>
            <a:ext cx="543842" cy="3284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baseline="0" dirty="0">
                <a:solidFill>
                  <a:sysClr val="windowText" lastClr="000000"/>
                </a:solidFill>
              </a:rPr>
              <a:t>Start</a:t>
            </a:r>
            <a:endParaRPr lang="en-US" sz="14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32">
            <a:extLst>
              <a:ext uri="{FF2B5EF4-FFF2-40B4-BE49-F238E27FC236}">
                <a16:creationId xmlns:a16="http://schemas.microsoft.com/office/drawing/2014/main" id="{10373459-587F-5412-ED7F-B5420D8BF6FF}"/>
              </a:ext>
            </a:extLst>
          </p:cNvPr>
          <p:cNvSpPr txBox="1"/>
          <p:nvPr/>
        </p:nvSpPr>
        <p:spPr>
          <a:xfrm>
            <a:off x="6197825" y="6148737"/>
            <a:ext cx="648586" cy="3284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baseline="0" dirty="0">
                <a:solidFill>
                  <a:sysClr val="windowText" lastClr="000000"/>
                </a:solidFill>
              </a:rPr>
              <a:t>Finish</a:t>
            </a:r>
            <a:endParaRPr lang="en-US" sz="14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89327A88-BF35-42B0-81C7-CD3E0E31AFF8}"/>
              </a:ext>
            </a:extLst>
          </p:cNvPr>
          <p:cNvSpPr txBox="1"/>
          <p:nvPr/>
        </p:nvSpPr>
        <p:spPr>
          <a:xfrm>
            <a:off x="6480650" y="3469029"/>
            <a:ext cx="5775960" cy="120396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ysClr val="windowText" lastClr="000000"/>
                </a:solidFill>
              </a:rPr>
              <a:t>The cycling distance from Beacon Croft</a:t>
            </a:r>
            <a:r>
              <a:rPr lang="en-US" sz="1400" b="0" baseline="0" dirty="0">
                <a:solidFill>
                  <a:sysClr val="windowText" lastClr="000000"/>
                </a:solidFill>
              </a:rPr>
              <a:t> to Ironbridge is :</a:t>
            </a:r>
          </a:p>
          <a:p>
            <a:r>
              <a:rPr lang="en-US" sz="1400" b="0" baseline="0" dirty="0">
                <a:solidFill>
                  <a:sysClr val="windowText" lastClr="000000"/>
                </a:solidFill>
              </a:rPr>
              <a:t>         32 miles     (decimal)          "thirty two miles"</a:t>
            </a:r>
          </a:p>
          <a:p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100000 miles     (binary)             "binary one zero </a:t>
            </a:r>
            <a:r>
              <a:rPr lang="en-US" sz="1400" b="0" baseline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zero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b="0" baseline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zero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b="0" baseline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zero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b="0" baseline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zero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miles"  </a:t>
            </a:r>
          </a:p>
          <a:p>
            <a:r>
              <a:rPr lang="en-US" sz="1400" b="0" baseline="0" dirty="0">
                <a:solidFill>
                  <a:schemeClr val="accent6"/>
                </a:solidFill>
              </a:rPr>
              <a:t>         20 miles     (hexadecimal) "hex two zero miles"</a:t>
            </a:r>
            <a:endParaRPr lang="en-US" sz="1400" b="0" dirty="0">
              <a:solidFill>
                <a:schemeClr val="accent6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B706E4-0D2B-90AC-9291-BF100468E123}"/>
              </a:ext>
            </a:extLst>
          </p:cNvPr>
          <p:cNvSpPr/>
          <p:nvPr/>
        </p:nvSpPr>
        <p:spPr>
          <a:xfrm>
            <a:off x="600694" y="6198432"/>
            <a:ext cx="1036409" cy="2157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4D5E30-DCA5-219E-666A-29BD7BC0714F}"/>
              </a:ext>
            </a:extLst>
          </p:cNvPr>
          <p:cNvSpPr/>
          <p:nvPr/>
        </p:nvSpPr>
        <p:spPr>
          <a:xfrm>
            <a:off x="2154507" y="6191806"/>
            <a:ext cx="2357259" cy="22238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AEA374-783C-B566-179A-F5F97DB9F69E}"/>
              </a:ext>
            </a:extLst>
          </p:cNvPr>
          <p:cNvSpPr/>
          <p:nvPr/>
        </p:nvSpPr>
        <p:spPr>
          <a:xfrm>
            <a:off x="5069202" y="6191942"/>
            <a:ext cx="1036409" cy="2157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40B17ABE-C26A-4960-888D-A199433C14D9}"/>
              </a:ext>
            </a:extLst>
          </p:cNvPr>
          <p:cNvSpPr txBox="1"/>
          <p:nvPr/>
        </p:nvSpPr>
        <p:spPr>
          <a:xfrm>
            <a:off x="14896" y="5014718"/>
            <a:ext cx="2217420" cy="746760"/>
          </a:xfrm>
          <a:prstGeom prst="rect">
            <a:avLst/>
          </a:prstGeom>
          <a:solidFill>
            <a:schemeClr val="lt1">
              <a:alpha val="77000"/>
            </a:schemeClr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baseline="0" dirty="0">
                <a:solidFill>
                  <a:sysClr val="windowText" lastClr="000000"/>
                </a:solidFill>
              </a:rPr>
              <a:t>a given symbol in decimal </a:t>
            </a:r>
          </a:p>
          <a:p>
            <a:r>
              <a:rPr lang="en-US" sz="1400" b="1" u="sng" baseline="0" dirty="0">
                <a:solidFill>
                  <a:sysClr val="windowText" lastClr="000000"/>
                </a:solidFill>
              </a:rPr>
              <a:t>doesn't</a:t>
            </a:r>
            <a:r>
              <a:rPr lang="en-US" sz="1400" b="0" baseline="0" dirty="0">
                <a:solidFill>
                  <a:sysClr val="windowText" lastClr="000000"/>
                </a:solidFill>
              </a:rPr>
              <a:t> always line up with</a:t>
            </a:r>
          </a:p>
          <a:p>
            <a:r>
              <a:rPr lang="en-US" sz="1400" b="0" baseline="0" dirty="0">
                <a:solidFill>
                  <a:sysClr val="windowText" lastClr="000000"/>
                </a:solidFill>
              </a:rPr>
              <a:t>the same symbols in binary </a:t>
            </a:r>
            <a:endParaRPr lang="en-US" sz="1400" b="0" dirty="0">
              <a:solidFill>
                <a:schemeClr val="accent6"/>
              </a:solidFill>
            </a:endParaRPr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200D9258-F7AD-4679-B1AD-A03AC77E0C7B}"/>
              </a:ext>
            </a:extLst>
          </p:cNvPr>
          <p:cNvSpPr txBox="1"/>
          <p:nvPr/>
        </p:nvSpPr>
        <p:spPr>
          <a:xfrm>
            <a:off x="4473101" y="4408757"/>
            <a:ext cx="2476500" cy="769620"/>
          </a:xfrm>
          <a:prstGeom prst="rect">
            <a:avLst/>
          </a:prstGeom>
          <a:solidFill>
            <a:schemeClr val="lt1">
              <a:alpha val="77000"/>
            </a:schemeClr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baseline="0" dirty="0">
                <a:solidFill>
                  <a:schemeClr val="accent6"/>
                </a:solidFill>
              </a:rPr>
              <a:t>a given symbol in hexadecimal </a:t>
            </a:r>
          </a:p>
          <a:p>
            <a:r>
              <a:rPr lang="en-US" sz="1400" b="1" u="sng" baseline="0" dirty="0">
                <a:solidFill>
                  <a:schemeClr val="accent6"/>
                </a:solidFill>
              </a:rPr>
              <a:t>does</a:t>
            </a:r>
            <a:r>
              <a:rPr lang="en-US" sz="1400" b="0" baseline="0" dirty="0">
                <a:solidFill>
                  <a:schemeClr val="accent6"/>
                </a:solidFill>
              </a:rPr>
              <a:t> always line up with</a:t>
            </a:r>
          </a:p>
          <a:p>
            <a:r>
              <a:rPr lang="en-US" sz="1400" b="0" baseline="0" dirty="0">
                <a:solidFill>
                  <a:schemeClr val="accent6"/>
                </a:solidFill>
              </a:rPr>
              <a:t>the same symbols in binary </a:t>
            </a:r>
            <a:endParaRPr lang="en-US" sz="1400" b="0" dirty="0">
              <a:solidFill>
                <a:schemeClr val="accent6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A6323F-F175-877D-C01A-39FD77F4929A}"/>
              </a:ext>
            </a:extLst>
          </p:cNvPr>
          <p:cNvSpPr/>
          <p:nvPr/>
        </p:nvSpPr>
        <p:spPr>
          <a:xfrm>
            <a:off x="3156792" y="623723"/>
            <a:ext cx="1276228" cy="279533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58BBBD-0A40-3AA0-8CAC-0562F18A7943}"/>
              </a:ext>
            </a:extLst>
          </p:cNvPr>
          <p:cNvSpPr/>
          <p:nvPr/>
        </p:nvSpPr>
        <p:spPr>
          <a:xfrm>
            <a:off x="5749132" y="617099"/>
            <a:ext cx="307278" cy="279533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95D67F68-746C-49F1-84A4-D854AD16D68B}"/>
              </a:ext>
            </a:extLst>
          </p:cNvPr>
          <p:cNvSpPr txBox="1"/>
          <p:nvPr/>
        </p:nvSpPr>
        <p:spPr>
          <a:xfrm>
            <a:off x="6989522" y="2944468"/>
            <a:ext cx="4899660" cy="32004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    digit</a:t>
            </a:r>
            <a:r>
              <a:rPr lang="en-US" sz="1400" b="0" dirty="0">
                <a:solidFill>
                  <a:sysClr val="windowText" lastClr="000000"/>
                </a:solidFill>
              </a:rPr>
              <a:t> : 1 black (but this word isn't</a:t>
            </a:r>
            <a:r>
              <a:rPr lang="en-US" sz="1400" b="0" baseline="0" dirty="0">
                <a:solidFill>
                  <a:sysClr val="windowText" lastClr="000000"/>
                </a:solidFill>
              </a:rPr>
              <a:t> always used clearly)</a:t>
            </a:r>
            <a:r>
              <a:rPr lang="en-US" sz="1400" b="0" dirty="0">
                <a:solidFill>
                  <a:sysClr val="windowText" lastClr="000000"/>
                </a:solidFill>
              </a:rPr>
              <a:t>  </a:t>
            </a:r>
          </a:p>
          <a:p>
            <a:endParaRPr lang="en-US" sz="14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CBB9682A-573E-421C-9538-C1B33FFFF247}"/>
              </a:ext>
            </a:extLst>
          </p:cNvPr>
          <p:cNvSpPr txBox="1"/>
          <p:nvPr/>
        </p:nvSpPr>
        <p:spPr>
          <a:xfrm>
            <a:off x="6981902" y="2281528"/>
            <a:ext cx="2087880" cy="78486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baseline="0" dirty="0">
                <a:solidFill>
                  <a:schemeClr val="bg1">
                    <a:lumMod val="75000"/>
                  </a:schemeClr>
                </a:solidFill>
              </a:rPr>
              <a:t>       bit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: 1 blue  </a:t>
            </a:r>
          </a:p>
          <a:p>
            <a:r>
              <a:rPr lang="en-US" sz="1400" b="1" baseline="0" dirty="0">
                <a:solidFill>
                  <a:schemeClr val="bg1">
                    <a:lumMod val="75000"/>
                  </a:schemeClr>
                </a:solidFill>
              </a:rPr>
              <a:t>nibble</a:t>
            </a:r>
            <a:r>
              <a:rPr lang="en-US" sz="1400" b="0" baseline="0" dirty="0">
                <a:solidFill>
                  <a:sysClr val="windowText" lastClr="000000"/>
                </a:solidFill>
              </a:rPr>
              <a:t> :</a:t>
            </a:r>
            <a:r>
              <a:rPr lang="en-US" sz="1400" b="0" baseline="0" dirty="0">
                <a:solidFill>
                  <a:schemeClr val="accent6"/>
                </a:solidFill>
              </a:rPr>
              <a:t> 1 green 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4 blues</a:t>
            </a:r>
          </a:p>
          <a:p>
            <a:r>
              <a:rPr lang="en-US" sz="1400" b="1" baseline="0" dirty="0">
                <a:solidFill>
                  <a:schemeClr val="bg1">
                    <a:lumMod val="75000"/>
                  </a:schemeClr>
                </a:solidFill>
              </a:rPr>
              <a:t>    byte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: </a:t>
            </a:r>
            <a:r>
              <a:rPr lang="en-US" sz="1400" b="0" baseline="0" dirty="0">
                <a:solidFill>
                  <a:schemeClr val="accent6"/>
                </a:solidFill>
              </a:rPr>
              <a:t>2 greens</a:t>
            </a:r>
            <a:r>
              <a:rPr lang="en-US" sz="1400" b="0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8 blues</a:t>
            </a:r>
          </a:p>
          <a:p>
            <a:endParaRPr lang="en-US" sz="14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66A593C7-0D24-4A35-99A7-9A1AA36E23AA}"/>
              </a:ext>
            </a:extLst>
          </p:cNvPr>
          <p:cNvSpPr txBox="1"/>
          <p:nvPr/>
        </p:nvSpPr>
        <p:spPr>
          <a:xfrm>
            <a:off x="9182086" y="2184783"/>
            <a:ext cx="3025140" cy="32004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baseline="0">
                <a:solidFill>
                  <a:sysClr val="windowText" lastClr="000000"/>
                </a:solidFill>
              </a:rPr>
              <a:t>p42. "Each hex </a:t>
            </a:r>
            <a:r>
              <a:rPr lang="en-US" sz="1100" b="0" baseline="0">
                <a:solidFill>
                  <a:srgbClr val="C00000"/>
                </a:solidFill>
              </a:rPr>
              <a:t>digit</a:t>
            </a:r>
            <a:r>
              <a:rPr lang="en-US" sz="1100" b="0" baseline="0">
                <a:solidFill>
                  <a:sysClr val="windowText" lastClr="000000"/>
                </a:solidFill>
              </a:rPr>
              <a:t> is equal to a nibble in binary"</a:t>
            </a:r>
            <a:endParaRPr lang="en-US" sz="110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TextBox 29">
            <a:extLst>
              <a:ext uri="{FF2B5EF4-FFF2-40B4-BE49-F238E27FC236}">
                <a16:creationId xmlns:a16="http://schemas.microsoft.com/office/drawing/2014/main" id="{282BA3BB-6656-4E5C-ABAA-37E3E0389A11}"/>
              </a:ext>
            </a:extLst>
          </p:cNvPr>
          <p:cNvSpPr txBox="1"/>
          <p:nvPr/>
        </p:nvSpPr>
        <p:spPr>
          <a:xfrm>
            <a:off x="9502126" y="2405763"/>
            <a:ext cx="3025140" cy="6172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baseline="0" dirty="0">
                <a:solidFill>
                  <a:sysClr val="windowText" lastClr="000000"/>
                </a:solidFill>
              </a:rPr>
              <a:t>It would be clearer to say : </a:t>
            </a:r>
          </a:p>
          <a:p>
            <a:r>
              <a:rPr lang="en-US" sz="1100" b="0" baseline="0" dirty="0">
                <a:solidFill>
                  <a:sysClr val="windowText" lastClr="000000"/>
                </a:solidFill>
              </a:rPr>
              <a:t>"Each hex character represents four binary characters, also known as a nibble."</a:t>
            </a:r>
            <a:endParaRPr lang="en-US" sz="11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04DDCD-86E1-45DB-A365-2DB8417585CA}"/>
              </a:ext>
            </a:extLst>
          </p:cNvPr>
          <p:cNvCxnSpPr>
            <a:cxnSpLocks/>
          </p:cNvCxnSpPr>
          <p:nvPr/>
        </p:nvCxnSpPr>
        <p:spPr>
          <a:xfrm flipV="1">
            <a:off x="9003137" y="2398143"/>
            <a:ext cx="1116209" cy="62484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1">
            <a:extLst>
              <a:ext uri="{FF2B5EF4-FFF2-40B4-BE49-F238E27FC236}">
                <a16:creationId xmlns:a16="http://schemas.microsoft.com/office/drawing/2014/main" id="{BF26C016-1696-4A9B-8955-A2EA35E2D3FA}"/>
              </a:ext>
            </a:extLst>
          </p:cNvPr>
          <p:cNvSpPr txBox="1"/>
          <p:nvPr/>
        </p:nvSpPr>
        <p:spPr>
          <a:xfrm>
            <a:off x="9182086" y="1117983"/>
            <a:ext cx="3025140" cy="32004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baseline="0" dirty="0">
                <a:solidFill>
                  <a:sysClr val="windowText" lastClr="000000"/>
                </a:solidFill>
              </a:rPr>
              <a:t>p41. "Hexadecimal uses sixteen different </a:t>
            </a:r>
            <a:r>
              <a:rPr lang="en-US" sz="1100" b="0" baseline="0" dirty="0">
                <a:solidFill>
                  <a:srgbClr val="C00000"/>
                </a:solidFill>
              </a:rPr>
              <a:t>digits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."</a:t>
            </a:r>
            <a:endParaRPr lang="en-US" sz="11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EA94C934-485B-4031-BD25-DB9F0B9D216C}"/>
              </a:ext>
            </a:extLst>
          </p:cNvPr>
          <p:cNvSpPr txBox="1"/>
          <p:nvPr/>
        </p:nvSpPr>
        <p:spPr>
          <a:xfrm>
            <a:off x="9502126" y="1369443"/>
            <a:ext cx="3025140" cy="47244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baseline="0" dirty="0">
                <a:solidFill>
                  <a:sysClr val="windowText" lastClr="000000"/>
                </a:solidFill>
              </a:rPr>
              <a:t>It would be clearer to say : </a:t>
            </a:r>
          </a:p>
          <a:p>
            <a:r>
              <a:rPr lang="en-US" sz="1100" b="0" baseline="0" dirty="0">
                <a:solidFill>
                  <a:sysClr val="windowText" lastClr="000000"/>
                </a:solidFill>
              </a:rPr>
              <a:t>"Hexadecimal uses sixteen different symbols."</a:t>
            </a:r>
            <a:endParaRPr lang="en-US" sz="11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82374B0-19BA-4C8B-8B3C-80895CF2F81B}"/>
              </a:ext>
            </a:extLst>
          </p:cNvPr>
          <p:cNvCxnSpPr>
            <a:cxnSpLocks/>
          </p:cNvCxnSpPr>
          <p:nvPr/>
        </p:nvCxnSpPr>
        <p:spPr>
          <a:xfrm flipV="1">
            <a:off x="9003137" y="1316103"/>
            <a:ext cx="2602109" cy="17068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0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7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AC0FD99-B88B-FA72-67D3-41264B653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748" y="362691"/>
            <a:ext cx="7209145" cy="58145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739740-A1A5-1DC7-D66C-C0CAE8C70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166" y="369792"/>
            <a:ext cx="6957663" cy="64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7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350</Words>
  <Application>Microsoft Office PowerPoint</Application>
  <PresentationFormat>Widescreen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MAHLE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Kennedy</dc:creator>
  <cp:lastModifiedBy>Gordon Kennedy</cp:lastModifiedBy>
  <cp:revision>6</cp:revision>
  <dcterms:created xsi:type="dcterms:W3CDTF">2025-05-27T13:39:09Z</dcterms:created>
  <dcterms:modified xsi:type="dcterms:W3CDTF">2025-05-29T18:40:17Z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2025-05-27T14:39:41Z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334778e3-611d-44c9-b163-31ef48a572de</vt:lpwstr>
  </property>
  <property fmtid="{D5CDD505-2E9C-101B-9397-08002B2CF9AE}" pid="8" name="MSIP_Label_31a97dba-4a48-4678-b18f-3391b0053218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MAHLE internal restricted (CL2)</vt:lpwstr>
  </property>
</Properties>
</file>